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8" r:id="rId2"/>
  </p:sldMasterIdLst>
  <p:notesMasterIdLst>
    <p:notesMasterId r:id="rId7"/>
  </p:notesMasterIdLst>
  <p:handoutMasterIdLst>
    <p:handoutMasterId r:id="rId8"/>
  </p:handoutMasterIdLst>
  <p:sldIdLst>
    <p:sldId id="265" r:id="rId3"/>
    <p:sldId id="638" r:id="rId4"/>
    <p:sldId id="639" r:id="rId5"/>
    <p:sldId id="263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82368" autoAdjust="0"/>
  </p:normalViewPr>
  <p:slideViewPr>
    <p:cSldViewPr snapToGrid="0" snapToObjects="1" showGuides="1">
      <p:cViewPr varScale="1">
        <p:scale>
          <a:sx n="93" d="100"/>
          <a:sy n="93" d="100"/>
        </p:scale>
        <p:origin x="1133" y="77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3/17/2021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subtitle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subtitle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0" y="2926326"/>
            <a:ext cx="6400800" cy="705749"/>
          </a:xfrm>
        </p:spPr>
        <p:txBody>
          <a:bodyPr anchor="b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71600" y="3637205"/>
            <a:ext cx="6400800" cy="46290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84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693" y="997421"/>
            <a:ext cx="5965438" cy="1488969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65697" y="2571750"/>
            <a:ext cx="5965825" cy="165258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600"/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141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140" y="927382"/>
            <a:ext cx="2713244" cy="1644368"/>
          </a:xfrm>
        </p:spPr>
        <p:txBody>
          <a:bodyPr anchor="t" anchorCtr="0">
            <a:normAutofit/>
          </a:bodyPr>
          <a:lstStyle>
            <a:lvl1pPr>
              <a:defRPr sz="2800" baseline="0">
                <a:solidFill>
                  <a:srgbClr val="FFFFFF"/>
                </a:solidFill>
              </a:defRPr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2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10279"/>
            <a:ext cx="8229600" cy="620483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57200" y="2787704"/>
            <a:ext cx="8229600" cy="594122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 algn="ctr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32022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6273934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6133"/>
            <a:ext cx="6273934" cy="28484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12515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5659438" y="1759744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8" y="3288506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7498"/>
            <a:ext cx="8229600" cy="6203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3025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57201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3276149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6097917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457201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3275819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6085706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20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19632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9" y="1770130"/>
            <a:ext cx="3036565" cy="2919036"/>
          </a:xfrm>
          <a:custGeom>
            <a:avLst/>
            <a:gdLst>
              <a:gd name="connsiteX0" fmla="*/ 0 w 3027362"/>
              <a:gd name="connsiteY0" fmla="*/ 0 h 1885950"/>
              <a:gd name="connsiteX1" fmla="*/ 2528981 w 3027362"/>
              <a:gd name="connsiteY1" fmla="*/ 0 h 1885950"/>
              <a:gd name="connsiteX2" fmla="*/ 3027362 w 3027362"/>
              <a:gd name="connsiteY2" fmla="*/ 498381 h 1885950"/>
              <a:gd name="connsiteX3" fmla="*/ 3027362 w 3027362"/>
              <a:gd name="connsiteY3" fmla="*/ 1885950 h 1885950"/>
              <a:gd name="connsiteX4" fmla="*/ 0 w 3027362"/>
              <a:gd name="connsiteY4" fmla="*/ 1885950 h 1885950"/>
              <a:gd name="connsiteX5" fmla="*/ 0 w 3027362"/>
              <a:gd name="connsiteY5" fmla="*/ 0 h 1885950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0 w 3036565"/>
              <a:gd name="connsiteY4" fmla="*/ 1885950 h 3892048"/>
              <a:gd name="connsiteX5" fmla="*/ 0 w 3036565"/>
              <a:gd name="connsiteY5" fmla="*/ 0 h 3892048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9203 w 3036565"/>
              <a:gd name="connsiteY4" fmla="*/ 3892047 h 3892048"/>
              <a:gd name="connsiteX5" fmla="*/ 0 w 3036565"/>
              <a:gd name="connsiteY5" fmla="*/ 0 h 38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6565" h="3892048">
                <a:moveTo>
                  <a:pt x="0" y="0"/>
                </a:moveTo>
                <a:lnTo>
                  <a:pt x="2528981" y="0"/>
                </a:lnTo>
                <a:cubicBezTo>
                  <a:pt x="2804229" y="0"/>
                  <a:pt x="3027362" y="223133"/>
                  <a:pt x="3027362" y="498381"/>
                </a:cubicBezTo>
                <a:cubicBezTo>
                  <a:pt x="3030430" y="1629603"/>
                  <a:pt x="3033497" y="2760826"/>
                  <a:pt x="3036565" y="3892048"/>
                </a:cubicBezTo>
                <a:lnTo>
                  <a:pt x="9203" y="3892047"/>
                </a:lnTo>
                <a:cubicBezTo>
                  <a:pt x="6135" y="2594698"/>
                  <a:pt x="3068" y="1297349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195591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545387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tmo 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57200" y="1759937"/>
            <a:ext cx="4038600" cy="2834687"/>
          </a:xfrm>
          <a:prstGeom prst="rect">
            <a:avLst/>
          </a:prstGeom>
        </p:spPr>
        <p:txBody>
          <a:bodyPr lIns="121919" tIns="121919" rIns="121919" bIns="121919" anchor="t"/>
          <a:lstStyle>
            <a:lvl1pPr marL="342900" indent="-342900" defTabSz="457200">
              <a:spcBef>
                <a:spcPts val="563"/>
              </a:spcBef>
              <a:buSzPct val="100000"/>
              <a:buBlip>
                <a:blip r:embed="rId2"/>
              </a:buBlip>
              <a:defRPr sz="2400">
                <a:solidFill>
                  <a:srgbClr val="000000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1pPr>
            <a:lvl2pPr marL="457200" indent="-285750" defTabSz="457200">
              <a:spcBef>
                <a:spcPts val="563"/>
              </a:spcBef>
              <a:buSzPct val="100000"/>
              <a:defRPr sz="2400">
                <a:solidFill>
                  <a:srgbClr val="000000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2pPr>
            <a:lvl3pPr marL="617220" indent="-274320" defTabSz="457200">
              <a:spcBef>
                <a:spcPts val="563"/>
              </a:spcBef>
              <a:buSzPct val="100000"/>
              <a:defRPr sz="2400">
                <a:solidFill>
                  <a:srgbClr val="000000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3pPr>
            <a:lvl4pPr marL="819150" indent="-304800" defTabSz="457200">
              <a:spcBef>
                <a:spcPts val="563"/>
              </a:spcBef>
              <a:buSzPct val="100000"/>
              <a:defRPr sz="2400">
                <a:solidFill>
                  <a:srgbClr val="000000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4pPr>
            <a:lvl5pPr marL="990600" indent="-304800" defTabSz="457200">
              <a:spcBef>
                <a:spcPts val="563"/>
              </a:spcBef>
              <a:buSzPct val="100000"/>
              <a:defRPr sz="2400">
                <a:solidFill>
                  <a:srgbClr val="000000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lIns="121919" tIns="121919" rIns="121919" bIns="121919"/>
          <a:lstStyle>
            <a:lvl1pPr algn="l" defTabSz="457200">
              <a:defRPr sz="3150" b="1">
                <a:solidFill>
                  <a:srgbClr val="000000"/>
                </a:solidFill>
                <a:latin typeface="Muller Bold"/>
                <a:ea typeface="Muller Bold"/>
                <a:cs typeface="Muller Bold"/>
                <a:sym typeface="Muller Bold"/>
              </a:defRPr>
            </a:lvl1pPr>
          </a:lstStyle>
          <a:p>
            <a:r>
              <a:t>Текст заголовка</a:t>
            </a:r>
          </a:p>
        </p:txBody>
      </p:sp>
      <p:pic>
        <p:nvPicPr>
          <p:cNvPr id="13" name="D344CE71-BB13-43B7-8243-24D75AF26A1E-L0-001.png" descr="D344CE71-BB13-43B7-8243-24D75AF26A1E-L0-001.png"/>
          <p:cNvPicPr>
            <a:picLocks noChangeAspect="1"/>
          </p:cNvPicPr>
          <p:nvPr/>
        </p:nvPicPr>
        <p:blipFill>
          <a:blip r:embed="rId3"/>
          <a:srcRect l="9262" t="27698" r="9262" b="27698"/>
          <a:stretch>
            <a:fillRect/>
          </a:stretch>
        </p:blipFill>
        <p:spPr>
          <a:xfrm>
            <a:off x="5601366" y="232809"/>
            <a:ext cx="3137912" cy="439732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9150"/>
            <a:ext cx="2133600" cy="276225"/>
          </a:xfrm>
          <a:prstGeom prst="rect">
            <a:avLst/>
          </a:prstGeom>
        </p:spPr>
        <p:txBody>
          <a:bodyPr lIns="121919" tIns="121919" rIns="121919" bIns="121919" anchor="ctr"/>
          <a:lstStyle>
            <a:lvl1pPr algn="r" defTabSz="457200">
              <a:defRPr sz="1200">
                <a:solidFill>
                  <a:srgbClr val="0230AC"/>
                </a:solidFill>
                <a:latin typeface="Muller Regular"/>
                <a:ea typeface="Muller Regular"/>
                <a:cs typeface="Muller Regular"/>
                <a:sym typeface="Muller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935447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5702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2" r:id="rId3"/>
    <p:sldLayoutId id="2147483686" r:id="rId4"/>
    <p:sldLayoutId id="2147483689" r:id="rId5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styles</a:t>
            </a:r>
            <a:endParaRPr lang="ru-RU" dirty="0"/>
          </a:p>
          <a:p>
            <a:pPr lvl="1"/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2"/>
            <a:r>
              <a:rPr lang="ru-RU" dirty="0" err="1"/>
              <a:t>Third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3"/>
            <a:r>
              <a:rPr lang="ru-RU" dirty="0" err="1"/>
              <a:t>Fourth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ru-RU" dirty="0"/>
          </a:p>
          <a:p>
            <a:pPr lvl="4"/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level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1" r:id="rId8"/>
    <p:sldLayoutId id="2147483712" r:id="rId9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2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286335"/>
            <a:ext cx="6400800" cy="70574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Оценивание </a:t>
            </a:r>
            <a:br>
              <a:rPr lang="en-US" sz="4000" dirty="0"/>
            </a:br>
            <a:r>
              <a:rPr lang="en-US" sz="4000" dirty="0"/>
              <a:t>Grading policy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371600" y="3082067"/>
            <a:ext cx="6400800" cy="1234560"/>
          </a:xfrm>
        </p:spPr>
        <p:txBody>
          <a:bodyPr>
            <a:normAutofit/>
          </a:bodyPr>
          <a:lstStyle/>
          <a:p>
            <a:r>
              <a:rPr lang="ru-RU" sz="2800" baseline="30000" dirty="0"/>
              <a:t>«Имитационное моделирование робототехнических систем»</a:t>
            </a:r>
          </a:p>
          <a:p>
            <a:r>
              <a:rPr lang="en-US" sz="2800" baseline="30000" dirty="0"/>
              <a:t>“Simulation of Robotic Systems”</a:t>
            </a:r>
            <a:endParaRPr lang="ru-RU" sz="2800" baseline="30000" dirty="0"/>
          </a:p>
          <a:p>
            <a:endParaRPr lang="en-US" sz="2800" baseline="30000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87A585D-1160-4AB0-A6DB-629347B9C49C}"/>
              </a:ext>
            </a:extLst>
          </p:cNvPr>
          <p:cNvSpPr txBox="1">
            <a:spLocks/>
          </p:cNvSpPr>
          <p:nvPr/>
        </p:nvSpPr>
        <p:spPr>
          <a:xfrm>
            <a:off x="0" y="4522572"/>
            <a:ext cx="9144000" cy="3280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aseline="30000" dirty="0"/>
              <a:t>ИТМО</a:t>
            </a:r>
            <a:endParaRPr 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60A2ACD-D927-4C51-AC4E-264F4812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Оценивание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DE7109E-CF76-4C79-9D03-4BB445004F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49584112"/>
              </p:ext>
            </p:extLst>
          </p:nvPr>
        </p:nvGraphicFramePr>
        <p:xfrm>
          <a:off x="4845367" y="1627359"/>
          <a:ext cx="3841433" cy="1888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6529">
                  <a:extLst>
                    <a:ext uri="{9D8B030D-6E8A-4147-A177-3AD203B41FA5}">
                      <a16:colId xmlns:a16="http://schemas.microsoft.com/office/drawing/2014/main" val="619830908"/>
                    </a:ext>
                  </a:extLst>
                </a:gridCol>
                <a:gridCol w="1195548">
                  <a:extLst>
                    <a:ext uri="{9D8B030D-6E8A-4147-A177-3AD203B41FA5}">
                      <a16:colId xmlns:a16="http://schemas.microsoft.com/office/drawing/2014/main" val="2003241747"/>
                    </a:ext>
                  </a:extLst>
                </a:gridCol>
                <a:gridCol w="1009356">
                  <a:extLst>
                    <a:ext uri="{9D8B030D-6E8A-4147-A177-3AD203B41FA5}">
                      <a16:colId xmlns:a16="http://schemas.microsoft.com/office/drawing/2014/main" val="39315398"/>
                    </a:ext>
                  </a:extLst>
                </a:gridCol>
              </a:tblGrid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Баллы </a:t>
                      </a:r>
                      <a:r>
                        <a:rPr lang="en-US" sz="1400" dirty="0">
                          <a:effectLst/>
                        </a:rPr>
                        <a:t>(%)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Оценка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90708138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91 – 100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5031987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84 – 90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9097881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75 – 83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0057497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68 – 74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D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21762313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60 – 67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E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66410204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0 – 59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F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Не зачет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648041"/>
                  </a:ext>
                </a:extLst>
              </a:tr>
            </a:tbl>
          </a:graphicData>
        </a:graphic>
      </p:graphicFrame>
      <p:sp>
        <p:nvSpPr>
          <p:cNvPr id="9" name="Объект 2">
            <a:extLst>
              <a:ext uri="{FF2B5EF4-FFF2-40B4-BE49-F238E27FC236}">
                <a16:creationId xmlns:a16="http://schemas.microsoft.com/office/drawing/2014/main" id="{13DD0A15-E997-4570-9959-4C2B46825175}"/>
              </a:ext>
            </a:extLst>
          </p:cNvPr>
          <p:cNvSpPr txBox="1">
            <a:spLocks/>
          </p:cNvSpPr>
          <p:nvPr/>
        </p:nvSpPr>
        <p:spPr>
          <a:xfrm>
            <a:off x="457199" y="1456400"/>
            <a:ext cx="3974757" cy="3046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Практические упражнения – 50%</a:t>
            </a:r>
            <a:endParaRPr lang="en-US" altLang="ru-RU" sz="16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Задания 1-5 по 8 баллов, </a:t>
            </a:r>
            <a:endParaRPr lang="en-US" altLang="ru-RU" sz="16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задание 6 на 10 баллов</a:t>
            </a:r>
            <a:endParaRPr lang="en-US" altLang="ru-RU" sz="16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Активность в классе – 10%</a:t>
            </a:r>
            <a:endParaRPr lang="en-US" altLang="ru-RU" sz="16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Защита проекта– 40%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Максимум 20 баллов за модель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 баллов за отчет/презентацию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 баллов ответ на вопросы</a:t>
            </a:r>
            <a:endParaRPr lang="ru-RU" altLang="ru-RU" sz="1600" dirty="0"/>
          </a:p>
        </p:txBody>
      </p:sp>
    </p:spTree>
    <p:extLst>
      <p:ext uri="{BB962C8B-B14F-4D97-AF65-F5344CB8AC3E}">
        <p14:creationId xmlns:p14="http://schemas.microsoft.com/office/powerpoint/2010/main" val="263899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60A2ACD-D927-4C51-AC4E-264F4812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DE7109E-CF76-4C79-9D03-4BB445004F3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863546" y="1465486"/>
          <a:ext cx="4968384" cy="1888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6529">
                  <a:extLst>
                    <a:ext uri="{9D8B030D-6E8A-4147-A177-3AD203B41FA5}">
                      <a16:colId xmlns:a16="http://schemas.microsoft.com/office/drawing/2014/main" val="619830908"/>
                    </a:ext>
                  </a:extLst>
                </a:gridCol>
                <a:gridCol w="1195548">
                  <a:extLst>
                    <a:ext uri="{9D8B030D-6E8A-4147-A177-3AD203B41FA5}">
                      <a16:colId xmlns:a16="http://schemas.microsoft.com/office/drawing/2014/main" val="2003241747"/>
                    </a:ext>
                  </a:extLst>
                </a:gridCol>
                <a:gridCol w="1009356">
                  <a:extLst>
                    <a:ext uri="{9D8B030D-6E8A-4147-A177-3AD203B41FA5}">
                      <a16:colId xmlns:a16="http://schemas.microsoft.com/office/drawing/2014/main" val="39315398"/>
                    </a:ext>
                  </a:extLst>
                </a:gridCol>
                <a:gridCol w="1126951">
                  <a:extLst>
                    <a:ext uri="{9D8B030D-6E8A-4147-A177-3AD203B41FA5}">
                      <a16:colId xmlns:a16="http://schemas.microsoft.com/office/drawing/2014/main" val="2059511953"/>
                    </a:ext>
                  </a:extLst>
                </a:gridCol>
              </a:tblGrid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Result score (%)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Result grade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Result mark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Explanation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90708138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91 – 100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Pass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Excellent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5031987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84 – 90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Pass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Very good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9097881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75 – 83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Pass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Good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0057497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68 – 74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D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Pass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Satisfactory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21762313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60 – 67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E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Pass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Satisfactory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66410204"/>
                  </a:ext>
                </a:extLst>
              </a:tr>
              <a:tr h="26982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0 – 59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F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Fail 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Unsatisfactory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648041"/>
                  </a:ext>
                </a:extLst>
              </a:tr>
            </a:tbl>
          </a:graphicData>
        </a:graphic>
      </p:graphicFrame>
      <p:sp>
        <p:nvSpPr>
          <p:cNvPr id="9" name="Объект 2">
            <a:extLst>
              <a:ext uri="{FF2B5EF4-FFF2-40B4-BE49-F238E27FC236}">
                <a16:creationId xmlns:a16="http://schemas.microsoft.com/office/drawing/2014/main" id="{13DD0A15-E997-4570-9959-4C2B46825175}"/>
              </a:ext>
            </a:extLst>
          </p:cNvPr>
          <p:cNvSpPr txBox="1">
            <a:spLocks/>
          </p:cNvSpPr>
          <p:nvPr/>
        </p:nvSpPr>
        <p:spPr>
          <a:xfrm>
            <a:off x="457200" y="1456400"/>
            <a:ext cx="3406346" cy="30467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breakdown of tasks is following:</a:t>
            </a:r>
            <a:endParaRPr lang="ru-RU" altLang="ru-RU" sz="16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Practice exercises </a:t>
            </a:r>
            <a:r>
              <a:rPr lang="en-US" altLang="ru-RU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50%</a:t>
            </a:r>
          </a:p>
          <a:p>
            <a:pPr marL="800100" lvl="1" indent="-342900" defTabSz="914400">
              <a:buFont typeface="Wingdings" panose="05000000000000000000" pitchFamily="2" charset="2"/>
              <a:buChar char="§"/>
            </a:pPr>
            <a:r>
              <a:rPr lang="en-US" altLang="ru-RU" sz="1600" dirty="0"/>
              <a:t>Tasks 1-5 cost 8 points, task 6 costs 10 points</a:t>
            </a:r>
            <a:endParaRPr lang="ru-RU" altLang="ru-RU" sz="16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 activity, communication, asking questions </a:t>
            </a:r>
            <a:r>
              <a:rPr lang="en-US" altLang="ru-RU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10% </a:t>
            </a:r>
            <a:endParaRPr lang="ru-RU" altLang="ru-RU" sz="16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defense</a:t>
            </a:r>
            <a:r>
              <a:rPr lang="en-US" altLang="ru-RU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en-US" altLang="ru-RU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40%</a:t>
            </a:r>
          </a:p>
          <a:p>
            <a:pPr marL="800100" lvl="1" indent="-342900" defTabSz="914400"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cs typeface="Arial" panose="020B0604020202020204" pitchFamily="34" charset="0"/>
              </a:rPr>
              <a:t>20 points for model</a:t>
            </a:r>
            <a:r>
              <a:rPr lang="ru-RU" altLang="ru-RU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ru-RU" sz="1600" dirty="0">
                <a:solidFill>
                  <a:srgbClr val="000000"/>
                </a:solidFill>
                <a:cs typeface="Arial" panose="020B0604020202020204" pitchFamily="34" charset="0"/>
              </a:rPr>
              <a:t>correctness</a:t>
            </a:r>
          </a:p>
          <a:p>
            <a:pPr marL="800100" lvl="1" indent="-342900" defTabSz="914400"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cs typeface="Arial" panose="020B0604020202020204" pitchFamily="34" charset="0"/>
              </a:rPr>
              <a:t>10 points for reports</a:t>
            </a:r>
          </a:p>
          <a:p>
            <a:pPr marL="800100" lvl="1" indent="-342900" defTabSz="914400">
              <a:buFont typeface="Wingdings" panose="05000000000000000000" pitchFamily="2" charset="2"/>
              <a:buChar char="§"/>
            </a:pPr>
            <a:r>
              <a:rPr lang="en-US" altLang="ru-RU" sz="1600" dirty="0">
                <a:solidFill>
                  <a:srgbClr val="000000"/>
                </a:solidFill>
                <a:cs typeface="Arial" panose="020B0604020202020204" pitchFamily="34" charset="0"/>
              </a:rPr>
              <a:t>10 points for Q&amp;A </a:t>
            </a:r>
            <a:endParaRPr lang="ru-RU" alt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ru-RU" altLang="ru-RU" sz="1600" dirty="0">
              <a:latin typeface="Arial" panose="020B0604020202020204" pitchFamily="34" charset="0"/>
            </a:endParaRP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5534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258"/>
            <a:ext cx="8229600" cy="620483"/>
          </a:xfrm>
        </p:spPr>
        <p:txBody>
          <a:bodyPr/>
          <a:lstStyle/>
          <a:p>
            <a:r>
              <a:rPr lang="ru-RU" dirty="0"/>
              <a:t>Удачи!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2578684"/>
            <a:ext cx="8229600" cy="594122"/>
          </a:xfrm>
        </p:spPr>
        <p:txBody>
          <a:bodyPr/>
          <a:lstStyle/>
          <a:p>
            <a:r>
              <a:rPr lang="en-US" dirty="0"/>
              <a:t>www.</a:t>
            </a:r>
            <a:r>
              <a:rPr lang="pl-PL" dirty="0"/>
              <a:t>ifmo.ru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5036</TotalTime>
  <Words>203</Words>
  <Application>Microsoft Office PowerPoint</Application>
  <PresentationFormat>Экран (16:9)</PresentationFormat>
  <Paragraphs>74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Calibri</vt:lpstr>
      <vt:lpstr>Muller Bold</vt:lpstr>
      <vt:lpstr>Muller Regular</vt:lpstr>
      <vt:lpstr>Wingdings</vt:lpstr>
      <vt:lpstr>Cover</vt:lpstr>
      <vt:lpstr>1_Cover</vt:lpstr>
      <vt:lpstr>Оценивание  Grading policy</vt:lpstr>
      <vt:lpstr>Оценивание</vt:lpstr>
      <vt:lpstr>Grades</vt:lpstr>
      <vt:lpstr>Удачи!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Борисов Иван Игоревич</cp:lastModifiedBy>
  <cp:revision>65</cp:revision>
  <dcterms:created xsi:type="dcterms:W3CDTF">2014-06-27T12:30:22Z</dcterms:created>
  <dcterms:modified xsi:type="dcterms:W3CDTF">2021-03-17T08:36:32Z</dcterms:modified>
</cp:coreProperties>
</file>